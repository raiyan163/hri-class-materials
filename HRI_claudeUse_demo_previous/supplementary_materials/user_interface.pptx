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74" r:id="rId3"/>
    <p:sldId id="291" r:id="rId4"/>
    <p:sldId id="292" r:id="rId5"/>
    <p:sldId id="293" r:id="rId6"/>
    <p:sldId id="275" r:id="rId7"/>
    <p:sldId id="294" r:id="rId8"/>
    <p:sldId id="290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1" roundtripDataSignature="AMtx7midVc7C8sfBDgoJUOQln+TzdPir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40217D-85BA-46D2-AEAE-A23E997D659F}">
  <a:tblStyle styleId="{B640217D-85BA-46D2-AEAE-A23E997D659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97E0AEE-DC63-46ED-AB06-378378AE881B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44198BB1-CC2B-48C2-BD4F-4103A6047C4A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9"/>
  </p:normalViewPr>
  <p:slideViewPr>
    <p:cSldViewPr snapToGrid="0">
      <p:cViewPr varScale="1">
        <p:scale>
          <a:sx n="112" d="100"/>
          <a:sy n="112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45BED87F-DC87-46A8-B863-E07879B7A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>
            <a:extLst>
              <a:ext uri="{FF2B5EF4-FFF2-40B4-BE49-F238E27FC236}">
                <a16:creationId xmlns:a16="http://schemas.microsoft.com/office/drawing/2014/main" id="{474DF2F6-EF8E-5329-4ADF-2B0FF5845F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16:notes">
            <a:extLst>
              <a:ext uri="{FF2B5EF4-FFF2-40B4-BE49-F238E27FC236}">
                <a16:creationId xmlns:a16="http://schemas.microsoft.com/office/drawing/2014/main" id="{D05A7AF4-855A-DF05-7FB7-4346F1F55B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16:notes">
            <a:extLst>
              <a:ext uri="{FF2B5EF4-FFF2-40B4-BE49-F238E27FC236}">
                <a16:creationId xmlns:a16="http://schemas.microsoft.com/office/drawing/2014/main" id="{F3D561CB-2CF8-2BF9-2337-70DF28FB83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1358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A52DA89E-5A00-73B7-7107-AEAF0DDED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>
            <a:extLst>
              <a:ext uri="{FF2B5EF4-FFF2-40B4-BE49-F238E27FC236}">
                <a16:creationId xmlns:a16="http://schemas.microsoft.com/office/drawing/2014/main" id="{17AD90B0-CFF3-6284-542B-D3ADC24781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16:notes">
            <a:extLst>
              <a:ext uri="{FF2B5EF4-FFF2-40B4-BE49-F238E27FC236}">
                <a16:creationId xmlns:a16="http://schemas.microsoft.com/office/drawing/2014/main" id="{1AE8E578-B717-806C-AACD-1F61192AF9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16:notes">
            <a:extLst>
              <a:ext uri="{FF2B5EF4-FFF2-40B4-BE49-F238E27FC236}">
                <a16:creationId xmlns:a16="http://schemas.microsoft.com/office/drawing/2014/main" id="{14CE347E-A27E-403E-467A-0EAEB5D40F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1939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AA6F3702-C776-85CC-5D47-E04C0E6BF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>
            <a:extLst>
              <a:ext uri="{FF2B5EF4-FFF2-40B4-BE49-F238E27FC236}">
                <a16:creationId xmlns:a16="http://schemas.microsoft.com/office/drawing/2014/main" id="{FE7CDA6F-BCB6-B195-74A2-91769B48FF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16:notes">
            <a:extLst>
              <a:ext uri="{FF2B5EF4-FFF2-40B4-BE49-F238E27FC236}">
                <a16:creationId xmlns:a16="http://schemas.microsoft.com/office/drawing/2014/main" id="{18BBA2E0-45DA-D1D5-F637-EC60A2A0FA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16:notes">
            <a:extLst>
              <a:ext uri="{FF2B5EF4-FFF2-40B4-BE49-F238E27FC236}">
                <a16:creationId xmlns:a16="http://schemas.microsoft.com/office/drawing/2014/main" id="{19497942-D88F-96F9-B7E1-FB72DE8FE4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737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AAED51EF-1C13-A2A3-C5A8-D316A6489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>
            <a:extLst>
              <a:ext uri="{FF2B5EF4-FFF2-40B4-BE49-F238E27FC236}">
                <a16:creationId xmlns:a16="http://schemas.microsoft.com/office/drawing/2014/main" id="{B21DBDD1-9D64-0813-E3CE-B09286A4C7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17:notes">
            <a:extLst>
              <a:ext uri="{FF2B5EF4-FFF2-40B4-BE49-F238E27FC236}">
                <a16:creationId xmlns:a16="http://schemas.microsoft.com/office/drawing/2014/main" id="{26792F13-B7CF-010B-B5DF-51593F17D3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p17:notes">
            <a:extLst>
              <a:ext uri="{FF2B5EF4-FFF2-40B4-BE49-F238E27FC236}">
                <a16:creationId xmlns:a16="http://schemas.microsoft.com/office/drawing/2014/main" id="{E520165A-FFC1-9D82-EA4B-3F0AA2162FA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82589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4" name="Google Shape;33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Two">
  <p:cSld name="Title Slide Tw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4"/>
          <p:cNvSpPr/>
          <p:nvPr/>
        </p:nvSpPr>
        <p:spPr>
          <a:xfrm>
            <a:off x="0" y="-125896"/>
            <a:ext cx="12192000" cy="6911009"/>
          </a:xfrm>
          <a:prstGeom prst="rect">
            <a:avLst/>
          </a:prstGeom>
          <a:solidFill>
            <a:srgbClr val="00377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4"/>
          <p:cNvSpPr/>
          <p:nvPr/>
        </p:nvSpPr>
        <p:spPr>
          <a:xfrm>
            <a:off x="-1" y="6782348"/>
            <a:ext cx="12192001" cy="858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4"/>
          <p:cNvSpPr/>
          <p:nvPr/>
        </p:nvSpPr>
        <p:spPr>
          <a:xfrm>
            <a:off x="12130601" y="1"/>
            <a:ext cx="74554" cy="914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78055" y="159160"/>
            <a:ext cx="837378" cy="781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Arial"/>
              <a:buNone/>
              <a:defRPr>
                <a:solidFill>
                  <a:srgbClr val="1F386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5"/>
          <p:cNvSpPr txBox="1">
            <a:spLocks noGrp="1"/>
          </p:cNvSpPr>
          <p:nvPr>
            <p:ph type="ftr" idx="11"/>
          </p:nvPr>
        </p:nvSpPr>
        <p:spPr>
          <a:xfrm>
            <a:off x="2059805" y="6244525"/>
            <a:ext cx="77579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5"/>
          <p:cNvSpPr txBox="1">
            <a:spLocks noGrp="1"/>
          </p:cNvSpPr>
          <p:nvPr>
            <p:ph type="dt" idx="10"/>
          </p:nvPr>
        </p:nvSpPr>
        <p:spPr>
          <a:xfrm>
            <a:off x="838200" y="6244525"/>
            <a:ext cx="12216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400"/>
              <a:buChar char="•"/>
              <a:defRPr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2000"/>
              <a:buChar char="•"/>
              <a:defRPr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1800"/>
              <a:buChar char="•"/>
              <a:defRPr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1600"/>
              <a:buChar char="•"/>
              <a:defRPr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1600"/>
              <a:buChar char="•"/>
              <a:defRPr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One">
  <p:cSld name="Title Slide On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6"/>
          <p:cNvSpPr/>
          <p:nvPr/>
        </p:nvSpPr>
        <p:spPr>
          <a:xfrm>
            <a:off x="0" y="-1"/>
            <a:ext cx="12192000" cy="6911009"/>
          </a:xfrm>
          <a:prstGeom prst="rect">
            <a:avLst/>
          </a:prstGeom>
          <a:solidFill>
            <a:srgbClr val="00377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" name="Google Shape;32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84642" y="2005401"/>
            <a:ext cx="2815533" cy="2627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400"/>
              <a:buChar char="•"/>
              <a:defRPr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2000"/>
              <a:buChar char="•"/>
              <a:defRPr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1800"/>
              <a:buChar char="•"/>
              <a:defRPr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1600"/>
              <a:buChar char="•"/>
              <a:defRPr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1600"/>
              <a:buChar char="•"/>
              <a:defRPr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7"/>
          <p:cNvSpPr txBox="1">
            <a:spLocks noGrp="1"/>
          </p:cNvSpPr>
          <p:nvPr>
            <p:ph type="dt" idx="10"/>
          </p:nvPr>
        </p:nvSpPr>
        <p:spPr>
          <a:xfrm>
            <a:off x="838200" y="6244525"/>
            <a:ext cx="12216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7"/>
          <p:cNvSpPr txBox="1">
            <a:spLocks noGrp="1"/>
          </p:cNvSpPr>
          <p:nvPr>
            <p:ph type="ftr" idx="11"/>
          </p:nvPr>
        </p:nvSpPr>
        <p:spPr>
          <a:xfrm>
            <a:off x="2059805" y="6244525"/>
            <a:ext cx="77579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38"/>
          <p:cNvSpPr txBox="1">
            <a:spLocks noGrp="1"/>
          </p:cNvSpPr>
          <p:nvPr>
            <p:ph type="dt" idx="10"/>
          </p:nvPr>
        </p:nvSpPr>
        <p:spPr>
          <a:xfrm>
            <a:off x="838200" y="6244525"/>
            <a:ext cx="12216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8"/>
          <p:cNvSpPr txBox="1">
            <a:spLocks noGrp="1"/>
          </p:cNvSpPr>
          <p:nvPr>
            <p:ph type="ftr" idx="11"/>
          </p:nvPr>
        </p:nvSpPr>
        <p:spPr>
          <a:xfrm>
            <a:off x="2059805" y="6244525"/>
            <a:ext cx="77579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9"/>
          <p:cNvSpPr/>
          <p:nvPr/>
        </p:nvSpPr>
        <p:spPr>
          <a:xfrm>
            <a:off x="0" y="0"/>
            <a:ext cx="12192000" cy="6911009"/>
          </a:xfrm>
          <a:prstGeom prst="rect">
            <a:avLst/>
          </a:prstGeom>
          <a:solidFill>
            <a:srgbClr val="00377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9"/>
          <p:cNvSpPr txBox="1">
            <a:spLocks noGrp="1"/>
          </p:cNvSpPr>
          <p:nvPr>
            <p:ph type="ctrTitle"/>
          </p:nvPr>
        </p:nvSpPr>
        <p:spPr>
          <a:xfrm>
            <a:off x="1524000" y="4630625"/>
            <a:ext cx="9144000" cy="1088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7" name="Google Shape;47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59967" y="2476500"/>
            <a:ext cx="2310784" cy="2156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0"/>
          <p:cNvSpPr txBox="1">
            <a:spLocks noGrp="1"/>
          </p:cNvSpPr>
          <p:nvPr>
            <p:ph type="dt" idx="10"/>
          </p:nvPr>
        </p:nvSpPr>
        <p:spPr>
          <a:xfrm>
            <a:off x="838200" y="6244525"/>
            <a:ext cx="12216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0"/>
          <p:cNvSpPr txBox="1">
            <a:spLocks noGrp="1"/>
          </p:cNvSpPr>
          <p:nvPr>
            <p:ph type="ftr" idx="11"/>
          </p:nvPr>
        </p:nvSpPr>
        <p:spPr>
          <a:xfrm>
            <a:off x="2059805" y="6244525"/>
            <a:ext cx="77579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1"/>
          <p:cNvSpPr txBox="1">
            <a:spLocks noGrp="1"/>
          </p:cNvSpPr>
          <p:nvPr>
            <p:ph type="dt" idx="10"/>
          </p:nvPr>
        </p:nvSpPr>
        <p:spPr>
          <a:xfrm>
            <a:off x="838200" y="6244525"/>
            <a:ext cx="12216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1"/>
          <p:cNvSpPr txBox="1">
            <a:spLocks noGrp="1"/>
          </p:cNvSpPr>
          <p:nvPr>
            <p:ph type="ftr" idx="11"/>
          </p:nvPr>
        </p:nvSpPr>
        <p:spPr>
          <a:xfrm>
            <a:off x="2059805" y="6244525"/>
            <a:ext cx="77579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3"/>
          <p:cNvSpPr txBox="1">
            <a:spLocks noGrp="1"/>
          </p:cNvSpPr>
          <p:nvPr>
            <p:ph type="ftr" idx="11"/>
          </p:nvPr>
        </p:nvSpPr>
        <p:spPr>
          <a:xfrm>
            <a:off x="2059805" y="6244525"/>
            <a:ext cx="77579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3"/>
          <p:cNvSpPr txBox="1">
            <a:spLocks noGrp="1"/>
          </p:cNvSpPr>
          <p:nvPr>
            <p:ph type="dt" idx="10"/>
          </p:nvPr>
        </p:nvSpPr>
        <p:spPr>
          <a:xfrm>
            <a:off x="838200" y="6244525"/>
            <a:ext cx="12216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3"/>
          <p:cNvSpPr txBox="1"/>
          <p:nvPr/>
        </p:nvSpPr>
        <p:spPr>
          <a:xfrm>
            <a:off x="149629" y="6244525"/>
            <a:ext cx="6885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3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078055" y="159161"/>
            <a:ext cx="837378" cy="78155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3"/>
          <p:cNvSpPr/>
          <p:nvPr/>
        </p:nvSpPr>
        <p:spPr>
          <a:xfrm>
            <a:off x="12130601" y="1"/>
            <a:ext cx="74554" cy="914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3"/>
          <p:cNvSpPr/>
          <p:nvPr/>
        </p:nvSpPr>
        <p:spPr>
          <a:xfrm>
            <a:off x="-1" y="6782348"/>
            <a:ext cx="12192001" cy="858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ransition spd="slow"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>
            <a:spLocks noGrp="1"/>
          </p:cNvSpPr>
          <p:nvPr>
            <p:ph type="ctrTitle"/>
          </p:nvPr>
        </p:nvSpPr>
        <p:spPr>
          <a:xfrm>
            <a:off x="0" y="1122375"/>
            <a:ext cx="120534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 sz="3500" dirty="0"/>
              <a:t>"I Loved How Pepper Talked About My Hoodie": </a:t>
            </a:r>
            <a:endParaRPr sz="3500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 sz="3500" dirty="0"/>
              <a:t>A Situated, MI-Grounded Multimodal Architecture for Empathy-Driven Conversational Engagement</a:t>
            </a:r>
            <a:endParaRPr sz="3500" dirty="0"/>
          </a:p>
        </p:txBody>
      </p:sp>
      <p:sp>
        <p:nvSpPr>
          <p:cNvPr id="60" name="Google Shape;60;p1"/>
          <p:cNvSpPr txBox="1">
            <a:spLocks noGrp="1"/>
          </p:cNvSpPr>
          <p:nvPr>
            <p:ph type="subTitle" idx="4294967295"/>
          </p:nvPr>
        </p:nvSpPr>
        <p:spPr>
          <a:xfrm>
            <a:off x="1524000" y="3602055"/>
            <a:ext cx="9144000" cy="23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40"/>
              <a:buFont typeface="Arial"/>
              <a:buNone/>
            </a:pPr>
            <a:r>
              <a:rPr lang="en-US" sz="224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Presented by PepperOnii</a:t>
            </a:r>
            <a:endParaRPr sz="224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30"/>
              <a:buFont typeface="Arial"/>
              <a:buNone/>
            </a:pPr>
            <a:r>
              <a:rPr lang="en-US" sz="1729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Raiyan Ashraf</a:t>
            </a:r>
            <a:endParaRPr sz="1729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30"/>
              <a:buFont typeface="Arial"/>
              <a:buNone/>
            </a:pPr>
            <a:r>
              <a:rPr lang="en-US" sz="1729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Yanni Liu</a:t>
            </a:r>
            <a:endParaRPr sz="1729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30"/>
              <a:buFont typeface="Arial"/>
              <a:buNone/>
            </a:pPr>
            <a:r>
              <a:rPr lang="en-US" sz="1729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Sruthi Ganji</a:t>
            </a:r>
            <a:endParaRPr sz="1729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30"/>
              <a:buFont typeface="Arial"/>
              <a:buNone/>
            </a:pPr>
            <a:r>
              <a:rPr lang="en-US" sz="1729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12/12/2025</a:t>
            </a: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1450" y="4696564"/>
            <a:ext cx="2270550" cy="209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0200" y="982980"/>
            <a:ext cx="9166860" cy="549782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6"/>
          <p:cNvSpPr txBox="1"/>
          <p:nvPr/>
        </p:nvSpPr>
        <p:spPr>
          <a:xfrm>
            <a:off x="0" y="0"/>
            <a:ext cx="5336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3774"/>
                </a:solidFill>
                <a:latin typeface="Arial"/>
                <a:ea typeface="Arial"/>
                <a:cs typeface="Arial"/>
                <a:sym typeface="Arial"/>
              </a:rPr>
              <a:t>User Interface Pages</a:t>
            </a:r>
            <a:endParaRPr sz="3200" b="1" i="0" u="none" strike="noStrike" cap="none" dirty="0">
              <a:solidFill>
                <a:srgbClr val="0037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>
          <a:extLst>
            <a:ext uri="{FF2B5EF4-FFF2-40B4-BE49-F238E27FC236}">
              <a16:creationId xmlns:a16="http://schemas.microsoft.com/office/drawing/2014/main" id="{83A3D994-C66A-4FC3-B916-59A650554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6">
            <a:extLst>
              <a:ext uri="{FF2B5EF4-FFF2-40B4-BE49-F238E27FC236}">
                <a16:creationId xmlns:a16="http://schemas.microsoft.com/office/drawing/2014/main" id="{DB9FA415-4CFD-4574-9896-2AD8005CCE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5990" y="605790"/>
            <a:ext cx="8412480" cy="595503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6">
            <a:extLst>
              <a:ext uri="{FF2B5EF4-FFF2-40B4-BE49-F238E27FC236}">
                <a16:creationId xmlns:a16="http://schemas.microsoft.com/office/drawing/2014/main" id="{0D9C5555-5D24-92CA-17B9-8596635CF991}"/>
              </a:ext>
            </a:extLst>
          </p:cNvPr>
          <p:cNvSpPr txBox="1"/>
          <p:nvPr/>
        </p:nvSpPr>
        <p:spPr>
          <a:xfrm>
            <a:off x="0" y="-338550"/>
            <a:ext cx="5336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3774"/>
                </a:solidFill>
                <a:latin typeface="Arial"/>
                <a:ea typeface="Arial"/>
                <a:cs typeface="Arial"/>
                <a:sym typeface="Arial"/>
              </a:rPr>
              <a:t>User Interface Pages</a:t>
            </a:r>
            <a:endParaRPr sz="3200" b="1" i="0" u="none" strike="noStrike" cap="none" dirty="0">
              <a:solidFill>
                <a:srgbClr val="0037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7378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>
          <a:extLst>
            <a:ext uri="{FF2B5EF4-FFF2-40B4-BE49-F238E27FC236}">
              <a16:creationId xmlns:a16="http://schemas.microsoft.com/office/drawing/2014/main" id="{CA70B13A-80C0-7B0C-14C6-F54BDFB25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16">
            <a:extLst>
              <a:ext uri="{FF2B5EF4-FFF2-40B4-BE49-F238E27FC236}">
                <a16:creationId xmlns:a16="http://schemas.microsoft.com/office/drawing/2014/main" id="{04A02872-BF5F-CF25-6067-D577BD9DD57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4450" y="880110"/>
            <a:ext cx="9281160" cy="569213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6">
            <a:extLst>
              <a:ext uri="{FF2B5EF4-FFF2-40B4-BE49-F238E27FC236}">
                <a16:creationId xmlns:a16="http://schemas.microsoft.com/office/drawing/2014/main" id="{B891E497-7AD3-31D1-12EA-AF1C0949F7DC}"/>
              </a:ext>
            </a:extLst>
          </p:cNvPr>
          <p:cNvSpPr txBox="1"/>
          <p:nvPr/>
        </p:nvSpPr>
        <p:spPr>
          <a:xfrm>
            <a:off x="0" y="0"/>
            <a:ext cx="5336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3774"/>
                </a:solidFill>
                <a:latin typeface="Arial"/>
                <a:ea typeface="Arial"/>
                <a:cs typeface="Arial"/>
                <a:sym typeface="Arial"/>
              </a:rPr>
              <a:t>User Interface Pages</a:t>
            </a:r>
            <a:endParaRPr sz="3200" b="1" i="0" u="none" strike="noStrike" cap="none" dirty="0">
              <a:solidFill>
                <a:srgbClr val="0037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5183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>
          <a:extLst>
            <a:ext uri="{FF2B5EF4-FFF2-40B4-BE49-F238E27FC236}">
              <a16:creationId xmlns:a16="http://schemas.microsoft.com/office/drawing/2014/main" id="{3111AD90-D3AD-C477-917D-D6A0EE0D4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6">
            <a:extLst>
              <a:ext uri="{FF2B5EF4-FFF2-40B4-BE49-F238E27FC236}">
                <a16:creationId xmlns:a16="http://schemas.microsoft.com/office/drawing/2014/main" id="{2F874015-29AD-B269-8149-5764C1ED4E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8260" y="914400"/>
            <a:ext cx="9555480" cy="579501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6">
            <a:extLst>
              <a:ext uri="{FF2B5EF4-FFF2-40B4-BE49-F238E27FC236}">
                <a16:creationId xmlns:a16="http://schemas.microsoft.com/office/drawing/2014/main" id="{ADBD85BB-5CAC-9EA8-19F7-67761B342199}"/>
              </a:ext>
            </a:extLst>
          </p:cNvPr>
          <p:cNvSpPr txBox="1"/>
          <p:nvPr/>
        </p:nvSpPr>
        <p:spPr>
          <a:xfrm>
            <a:off x="0" y="0"/>
            <a:ext cx="5336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3774"/>
                </a:solidFill>
                <a:latin typeface="Arial"/>
                <a:ea typeface="Arial"/>
                <a:cs typeface="Arial"/>
                <a:sym typeface="Arial"/>
              </a:rPr>
              <a:t>User Interface Pages</a:t>
            </a:r>
            <a:endParaRPr sz="3200" b="1" i="0" u="none" strike="noStrike" cap="none" dirty="0">
              <a:solidFill>
                <a:srgbClr val="0037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22594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1605" y="1006997"/>
            <a:ext cx="9662932" cy="563687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7"/>
          <p:cNvSpPr txBox="1"/>
          <p:nvPr/>
        </p:nvSpPr>
        <p:spPr>
          <a:xfrm>
            <a:off x="0" y="0"/>
            <a:ext cx="92991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3774"/>
                </a:solidFill>
                <a:latin typeface="Arial"/>
                <a:ea typeface="Arial"/>
                <a:cs typeface="Arial"/>
                <a:sym typeface="Arial"/>
              </a:rPr>
              <a:t>Main Dashboard and Conversation Page</a:t>
            </a:r>
            <a:endParaRPr sz="3200" b="1" i="0" u="none" strike="noStrike" cap="none">
              <a:solidFill>
                <a:srgbClr val="0037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699D7D6E-305D-E4FD-4A7E-0733961B5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7">
            <a:extLst>
              <a:ext uri="{FF2B5EF4-FFF2-40B4-BE49-F238E27FC236}">
                <a16:creationId xmlns:a16="http://schemas.microsoft.com/office/drawing/2014/main" id="{CE6CE558-9277-E2CC-C779-DC877B0591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0200" y="731520"/>
            <a:ext cx="8252460" cy="595502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7">
            <a:extLst>
              <a:ext uri="{FF2B5EF4-FFF2-40B4-BE49-F238E27FC236}">
                <a16:creationId xmlns:a16="http://schemas.microsoft.com/office/drawing/2014/main" id="{D53F2199-7FC0-0FCA-DF4A-7A44E8C4CF6D}"/>
              </a:ext>
            </a:extLst>
          </p:cNvPr>
          <p:cNvSpPr txBox="1"/>
          <p:nvPr/>
        </p:nvSpPr>
        <p:spPr>
          <a:xfrm>
            <a:off x="122692" y="-159142"/>
            <a:ext cx="92991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3774"/>
                </a:solidFill>
                <a:latin typeface="Arial"/>
                <a:ea typeface="Arial"/>
                <a:cs typeface="Arial"/>
                <a:sym typeface="Arial"/>
              </a:rPr>
              <a:t>Main Dashboard and Conversation Page</a:t>
            </a:r>
            <a:endParaRPr sz="3200" b="1" i="0" u="none" strike="noStrike" cap="none" dirty="0">
              <a:solidFill>
                <a:srgbClr val="0037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4035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2"/>
          <p:cNvSpPr txBox="1">
            <a:spLocks noGrp="1"/>
          </p:cNvSpPr>
          <p:nvPr>
            <p:ph type="ctrTitle"/>
          </p:nvPr>
        </p:nvSpPr>
        <p:spPr>
          <a:xfrm>
            <a:off x="1524000" y="124403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 sz="5500"/>
              <a:t>Q&amp;A？</a:t>
            </a:r>
            <a:endParaRPr sz="5500"/>
          </a:p>
        </p:txBody>
      </p:sp>
      <p:pic>
        <p:nvPicPr>
          <p:cNvPr id="337" name="Google Shape;337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1450" y="4696564"/>
            <a:ext cx="2270550" cy="209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</Words>
  <Application>Microsoft Macintosh PowerPoint</Application>
  <PresentationFormat>Widescreen</PresentationFormat>
  <Paragraphs>21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"I Loved How Pepper Talked About My Hoodie":  A Situated, MI-Grounded Multimodal Architecture for Empathy-Driven Conversational Engagement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Q&amp;A？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Ashraf, Raiyan</cp:lastModifiedBy>
  <cp:revision>2</cp:revision>
  <dcterms:modified xsi:type="dcterms:W3CDTF">2026-10-01T14:42:04Z</dcterms:modified>
</cp:coreProperties>
</file>